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reenshot-0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reenshot-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reenshot-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kills-code-slide-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kills-code-slide-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kills-code-slide-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4389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100" b="1">
                <a:solidFill>
                  <a:srgbClr val="9885FF"/>
                </a:solidFill>
                <a:latin typeface="Aptos"/>
              </a:rPr>
              <a:t xml:space="preserve">PRODUCT OVERVIEW  •  OCTOBER 2026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85800" y="1143000"/>
            <a:ext cx="553212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3900" b="1">
                <a:solidFill>
                  <a:srgbClr val="F4F2FF"/>
                </a:solidFill>
                <a:latin typeface="Aptos"/>
              </a:rPr>
              <a:t xml:space="preserve">SkillsPassAurora</a:t>
            </a:r>
            <a:endParaRPr lang="en-US" sz="3900"/>
          </a:p>
        </p:txBody>
      </p:sp>
      <p:sp>
        <p:nvSpPr>
          <p:cNvPr id="5" name="Text 5"/>
          <p:cNvSpPr txBox="1"/>
          <p:nvPr/>
        </p:nvSpPr>
        <p:spPr>
          <a:xfrm>
            <a:off x="731520" y="2359152"/>
            <a:ext cx="534924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300" b="1">
                <a:solidFill>
                  <a:srgbClr val="B0AEC8"/>
                </a:solidFill>
                <a:latin typeface="Aptos"/>
              </a:rPr>
              <a:t xml:space="preserve">Your skills are not useless.</a:t>
            </a:r>
            <a:endParaRPr lang="en-US" sz="2300"/>
          </a:p>
        </p:txBody>
      </p:sp>
      <p:sp>
        <p:nvSpPr>
          <p:cNvPr id="6" name="Text 6"/>
          <p:cNvSpPr txBox="1"/>
          <p:nvPr/>
        </p:nvSpPr>
        <p:spPr>
          <a:xfrm>
            <a:off x="749808" y="388620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51D3BD"/>
                </a:solidFill>
                <a:latin typeface="Aptos"/>
              </a:rPr>
              <a:t xml:space="preserve">How the platform works • Job Seeker and employer journeys • Security • Data model • Setup</a:t>
            </a:r>
            <a:endParaRPr lang="en-US" sz="1500"/>
          </a:p>
        </p:txBody>
      </p:sp>
      <p:sp>
        <p:nvSpPr>
          <p:cNvPr id="7" name="Text 7"/>
          <p:cNvSpPr txBox="1"/>
          <p:nvPr/>
        </p:nvSpPr>
        <p:spPr>
          <a:xfrm>
            <a:off x="749808" y="57607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100">
                <a:solidFill>
                  <a:srgbClr val="B0AEC8"/>
                </a:solidFill>
                <a:latin typeface="Aptos"/>
              </a:rPr>
              <a:t xml:space="preserve">A walkthrough of the current PHP + MySQL system</a:t>
            </a:r>
            <a:endParaRPr lang="en-US" sz="1100"/>
          </a:p>
        </p:txBody>
      </p:sp>
      <p:sp>
        <p:nvSpPr>
          <p:cNvPr id="8" name="Shape 8"/>
          <p:cNvSpPr/>
          <p:nvPr/>
        </p:nvSpPr>
        <p:spPr>
          <a:xfrm>
            <a:off x="6400800" y="731520"/>
            <a:ext cx="5074920" cy="544068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pic>
        <p:nvPicPr>
          <p:cNvPr id="9" name="Live sign-in page captured from local XAM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65948"/>
            <a:ext cx="5074920" cy="3171825"/>
          </a:xfrm>
          <a:prstGeom prst="rect">
            <a:avLst/>
          </a:prstGeom>
          <a:ln>
            <a:noFill/>
          </a:ln>
        </p:spPr>
      </p:pic>
      <p:sp>
        <p:nvSpPr>
          <p:cNvPr id="10" name="Text 10"/>
          <p:cNvSpPr txBox="1"/>
          <p:nvPr/>
        </p:nvSpPr>
        <p:spPr>
          <a:xfrm>
            <a:off x="6446520" y="6236208"/>
            <a:ext cx="4983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>
                <a:solidFill>
                  <a:srgbClr val="B0AEC8"/>
                </a:solidFill>
                <a:latin typeface="Aptos"/>
              </a:rPr>
              <a:t xml:space="preserve">Live application screen • local XAMPP capture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01  |  PURPOSE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One marketplace, two sides of the hiring process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The product creates a structured path from discovering a role to selecting a job seeker.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2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594360" y="1645920"/>
            <a:ext cx="3520440" cy="15087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40664" y="1810512"/>
            <a:ext cx="50292" cy="1179576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 b="1">
                <a:solidFill>
                  <a:srgbClr val="F4F2FF"/>
                </a:solidFill>
                <a:latin typeface="Aptos"/>
              </a:rPr>
              <a:t xml:space="preserve">For job seekers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886968" y="2221992"/>
            <a:ext cx="3044952" cy="81381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Discover available work, apply with context, and share a public skills profile.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4343400" y="1645920"/>
            <a:ext cx="3520440" cy="15087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489704" y="1810512"/>
            <a:ext cx="50292" cy="1179576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36008" y="1792224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 b="1">
                <a:solidFill>
                  <a:srgbClr val="F4F2FF"/>
                </a:solidFill>
                <a:latin typeface="Aptos"/>
              </a:rPr>
              <a:t xml:space="preserve">For employers</a:t>
            </a:r>
            <a:endParaRPr lang="en-US" sz="1700"/>
          </a:p>
        </p:txBody>
      </p:sp>
      <p:sp>
        <p:nvSpPr>
          <p:cNvPr id="16" name="Text 16"/>
          <p:cNvSpPr txBox="1"/>
          <p:nvPr/>
        </p:nvSpPr>
        <p:spPr>
          <a:xfrm>
            <a:off x="4636008" y="2221992"/>
            <a:ext cx="3044952" cy="81381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Publish openings, review applications, review job seeker applications, and hire.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8092440" y="1645920"/>
            <a:ext cx="3520440" cy="15087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238744" y="1810512"/>
            <a:ext cx="50292" cy="1179576"/>
          </a:xfrm>
          <a:prstGeom prst="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385048" y="1792224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 b="1">
                <a:solidFill>
                  <a:srgbClr val="F4F2FF"/>
                </a:solidFill>
                <a:latin typeface="Aptos"/>
              </a:rPr>
              <a:t xml:space="preserve">Shared foundation</a:t>
            </a:r>
            <a:endParaRPr lang="en-US" sz="1700"/>
          </a:p>
        </p:txBody>
      </p:sp>
      <p:sp>
        <p:nvSpPr>
          <p:cNvPr id="20" name="Text 20"/>
          <p:cNvSpPr txBox="1"/>
          <p:nvPr/>
        </p:nvSpPr>
        <p:spPr>
          <a:xfrm>
            <a:off x="8385048" y="2221992"/>
            <a:ext cx="3044952" cy="81381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Accounts, job listings, application status, profiles, and access controls.</a:t>
            </a:r>
            <a:endParaRPr lang="en-US" sz="1200"/>
          </a:p>
        </p:txBody>
      </p:sp>
      <p:sp>
        <p:nvSpPr>
          <p:cNvPr id="21" name="Text 21"/>
          <p:cNvSpPr txBox="1"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 b="1">
                <a:solidFill>
                  <a:srgbClr val="9885FF"/>
                </a:solidFill>
                <a:latin typeface="Aptos"/>
              </a:rPr>
              <a:t xml:space="preserve">Product promise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731520" y="4133088"/>
            <a:ext cx="1060704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000" b="1">
                <a:solidFill>
                  <a:srgbClr val="F4F2FF"/>
                </a:solidFill>
                <a:latin typeface="Aptos"/>
              </a:rPr>
              <a:t xml:space="preserve">Make opportunity discovery and job seeker review clearer: each job has an owner, each application is tied to a job seeker, and hiring updates the job status.</a:t>
            </a:r>
            <a:endParaRPr lang="en-US" sz="2000"/>
          </a:p>
        </p:txBody>
      </p:sp>
      <p:sp>
        <p:nvSpPr>
          <p:cNvPr id="23" name="Shape 23"/>
          <p:cNvSpPr/>
          <p:nvPr/>
        </p:nvSpPr>
        <p:spPr>
          <a:xfrm>
            <a:off x="731520" y="5486400"/>
            <a:ext cx="10698480" cy="566928"/>
          </a:xfrm>
          <a:prstGeom prst="roundRect">
            <a:avLst/>
          </a:prstGeom>
          <a:solidFill>
            <a:srgbClr val="303049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914400" y="5596128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Built as a server-rendered PHP application with MySQL/MariaDB persistence; no JavaScript framework is required.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02  |  ROLES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Two account types share one workflow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Role checks happen on the server as well as being reflected in the interface.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3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594360" y="1691640"/>
            <a:ext cx="5303520" cy="39776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868680" y="193852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800" b="1">
                <a:solidFill>
                  <a:srgbClr val="51D3BD"/>
                </a:solidFill>
                <a:latin typeface="Aptos"/>
              </a:rPr>
              <a:t xml:space="preserve">JOB SEEKER / JOB SEEKER</a:t>
            </a:r>
            <a:endParaRPr lang="en-US" sz="1800"/>
          </a:p>
        </p:txBody>
      </p:sp>
      <p:sp>
        <p:nvSpPr>
          <p:cNvPr id="11" name="Text 11"/>
          <p:cNvSpPr txBox="1"/>
          <p:nvPr/>
        </p:nvSpPr>
        <p:spPr>
          <a:xfrm>
            <a:off x="914400" y="2542032"/>
            <a:ext cx="452628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>
                <a:solidFill>
                  <a:srgbClr val="F4F2FF"/>
                </a:solidFill>
                <a:latin typeface="Aptos"/>
              </a:rPr>
              <a:t xml:space="preserve">1  Create a job seeker account\n2  Browse available jobs\n3  Submit a required cover letter\n4  Add experience or portfolio link\n5  Track application status\n6  Maintain profile and picture</a:t>
            </a:r>
            <a:endParaRPr lang="en-US" sz="1700"/>
          </a:p>
        </p:txBody>
      </p:sp>
      <p:sp>
        <p:nvSpPr>
          <p:cNvPr id="12" name="Shape 12"/>
          <p:cNvSpPr/>
          <p:nvPr/>
        </p:nvSpPr>
        <p:spPr>
          <a:xfrm>
            <a:off x="6263640" y="1691640"/>
            <a:ext cx="5303520" cy="39776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537960" y="193852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800" b="1">
                <a:solidFill>
                  <a:srgbClr val="9885FF"/>
                </a:solidFill>
                <a:latin typeface="Aptos"/>
              </a:rPr>
              <a:t xml:space="preserve">EMPLOYER</a:t>
            </a:r>
            <a:endParaRPr lang="en-US" sz="1800"/>
          </a:p>
        </p:txBody>
      </p:sp>
      <p:sp>
        <p:nvSpPr>
          <p:cNvPr id="14" name="Text 14"/>
          <p:cNvSpPr txBox="1"/>
          <p:nvPr/>
        </p:nvSpPr>
        <p:spPr>
          <a:xfrm>
            <a:off x="6583680" y="2542032"/>
            <a:ext cx="452628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>
                <a:solidFill>
                  <a:srgbClr val="F4F2FF"/>
                </a:solidFill>
                <a:latin typeface="Aptos"/>
              </a:rPr>
              <a:t xml:space="preserve">1  Create an employer account\n2  Post a role and required skills\n3  Review applications to own jobs\n4  Review job seeker applications\n5  Select a job seeker\n6  Follow hiring metrics and statuses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822960" y="5879592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Public profiles show name, role, member date, and picture; email and private application data stay hidden.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03  |  JOB SEEKER JOURNEY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Job Seeker experience: discover, present, apply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The application form collects context beyond a résumé-style profile.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4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594360" y="1600200"/>
            <a:ext cx="5577840" cy="44348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pic>
        <p:nvPicPr>
          <p:cNvPr id="10" name="Live SkillsPassAurora landing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74545"/>
            <a:ext cx="5577840" cy="3486150"/>
          </a:xfrm>
          <a:prstGeom prst="rect">
            <a:avLst/>
          </a:prstGeom>
          <a:ln>
            <a:noFill/>
          </a:ln>
        </p:spPr>
      </p:pic>
      <p:sp>
        <p:nvSpPr>
          <p:cNvPr id="11" name="Shape 11"/>
          <p:cNvSpPr/>
          <p:nvPr/>
        </p:nvSpPr>
        <p:spPr>
          <a:xfrm>
            <a:off x="6446520" y="1691640"/>
            <a:ext cx="5074920" cy="111556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592824" y="1856232"/>
            <a:ext cx="50292" cy="786384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739128" y="1837944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Discover</a:t>
            </a:r>
            <a:endParaRPr lang="en-US" sz="1500"/>
          </a:p>
        </p:txBody>
      </p:sp>
      <p:sp>
        <p:nvSpPr>
          <p:cNvPr id="14" name="Text 14"/>
          <p:cNvSpPr txBox="1"/>
          <p:nvPr/>
        </p:nvSpPr>
        <p:spPr>
          <a:xfrm>
            <a:off x="6739128" y="2267712"/>
            <a:ext cx="459943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Browse available roles from the landing page or Jobs navigation.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6446520" y="2971800"/>
            <a:ext cx="5074920" cy="111556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592824" y="3136392"/>
            <a:ext cx="50292" cy="786384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739128" y="3118104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Apply with context</a:t>
            </a:r>
            <a:endParaRPr lang="en-US" sz="1500"/>
          </a:p>
        </p:txBody>
      </p:sp>
      <p:sp>
        <p:nvSpPr>
          <p:cNvPr id="18" name="Text 18"/>
          <p:cNvSpPr txBox="1"/>
          <p:nvPr/>
        </p:nvSpPr>
        <p:spPr>
          <a:xfrm>
            <a:off x="6739128" y="3547872"/>
            <a:ext cx="459943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Cover letter required; relevant experience and HTTP/HTTPS portfolio link optional.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6446520" y="4251960"/>
            <a:ext cx="5074920" cy="111556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592824" y="4416552"/>
            <a:ext cx="50292" cy="786384"/>
          </a:xfrm>
          <a:prstGeom prst="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739128" y="4398264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Track progress</a:t>
            </a:r>
            <a:endParaRPr lang="en-US" sz="1500"/>
          </a:p>
        </p:txBody>
      </p:sp>
      <p:sp>
        <p:nvSpPr>
          <p:cNvPr id="22" name="Text 22"/>
          <p:cNvSpPr txBox="1"/>
          <p:nvPr/>
        </p:nvSpPr>
        <p:spPr>
          <a:xfrm>
            <a:off x="6739128" y="4828032"/>
            <a:ext cx="459943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Application status is visible to the job seeker: pending, accepted, or rejected.</a:t>
            </a:r>
            <a:endParaRPr lang="en-US" sz="1200"/>
          </a:p>
        </p:txBody>
      </p:sp>
      <p:sp>
        <p:nvSpPr>
          <p:cNvPr id="23" name="Text 23"/>
          <p:cNvSpPr txBox="1"/>
          <p:nvPr/>
        </p:nvSpPr>
        <p:spPr>
          <a:xfrm>
            <a:off x="685800" y="611733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900">
                <a:solidFill>
                  <a:srgbClr val="B0AEC8"/>
                </a:solidFill>
                <a:latin typeface="Aptos"/>
              </a:rPr>
              <a:t xml:space="preserve">Actual landing page screenshot captured from local XAMPP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04  |  EMPLOYER WORKFLOW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Employers publish roles and manage their hiring pipeline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The dashboard’s charts and metrics are employer-only and scoped to the signed-in employer.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5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594360" y="1645920"/>
            <a:ext cx="4297680" cy="438912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pic>
        <p:nvPicPr>
          <p:cNvPr id="10" name="Live candidate and employer role selec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97455"/>
            <a:ext cx="4297680" cy="2686050"/>
          </a:xfrm>
          <a:prstGeom prst="rect">
            <a:avLst/>
          </a:prstGeom>
          <a:ln>
            <a:noFill/>
          </a:ln>
        </p:spPr>
      </p:pic>
      <p:sp>
        <p:nvSpPr>
          <p:cNvPr id="11" name="Text 11"/>
          <p:cNvSpPr txBox="1"/>
          <p:nvPr/>
        </p:nvSpPr>
        <p:spPr>
          <a:xfrm>
            <a:off x="777240" y="6080760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900">
                <a:solidFill>
                  <a:srgbClr val="B0AEC8"/>
                </a:solidFill>
                <a:latin typeface="Aptos"/>
              </a:rPr>
              <a:t xml:space="preserve">Actual account-role selection screen</a:t>
            </a:r>
            <a:endParaRPr lang="en-US" sz="900"/>
          </a:p>
        </p:txBody>
      </p:sp>
      <p:sp>
        <p:nvSpPr>
          <p:cNvPr id="12" name="Shape 12"/>
          <p:cNvSpPr/>
          <p:nvPr/>
        </p:nvSpPr>
        <p:spPr>
          <a:xfrm>
            <a:off x="5166360" y="1645920"/>
            <a:ext cx="6355080" cy="438912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5440680" y="1856232"/>
            <a:ext cx="58521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300" b="1">
                <a:solidFill>
                  <a:srgbClr val="9885FF"/>
                </a:solidFill>
                <a:latin typeface="Aptos"/>
              </a:rPr>
              <a:t xml:space="preserve">EMPLOYER DASHBOARD  •  ILLUSTRATIVE LAYOUT</a:t>
            </a:r>
            <a:endParaRPr lang="en-US" sz="1300"/>
          </a:p>
        </p:txBody>
      </p:sp>
      <p:sp>
        <p:nvSpPr>
          <p:cNvPr id="14" name="Shape 14"/>
          <p:cNvSpPr/>
          <p:nvPr/>
        </p:nvSpPr>
        <p:spPr>
          <a:xfrm>
            <a:off x="5468112" y="2395728"/>
            <a:ext cx="1353312" cy="84124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5614416" y="2560320"/>
            <a:ext cx="50292" cy="512064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5760720" y="2542032"/>
            <a:ext cx="89611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300" b="1">
                <a:solidFill>
                  <a:srgbClr val="F4F2FF"/>
                </a:solidFill>
                <a:latin typeface="Aptos"/>
              </a:rPr>
              <a:t xml:space="preserve">Jobs</a:t>
            </a:r>
            <a:endParaRPr lang="en-US" sz="1300"/>
          </a:p>
        </p:txBody>
      </p:sp>
      <p:sp>
        <p:nvSpPr>
          <p:cNvPr id="17" name="Text 17"/>
          <p:cNvSpPr txBox="1"/>
          <p:nvPr/>
        </p:nvSpPr>
        <p:spPr>
          <a:xfrm>
            <a:off x="5760720" y="2971800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Total / filled</a:t>
            </a:r>
            <a:endParaRPr lang="en-US" sz="1200"/>
          </a:p>
        </p:txBody>
      </p:sp>
      <p:sp>
        <p:nvSpPr>
          <p:cNvPr id="18" name="Shape 18"/>
          <p:cNvSpPr/>
          <p:nvPr/>
        </p:nvSpPr>
        <p:spPr>
          <a:xfrm>
            <a:off x="6967728" y="2395728"/>
            <a:ext cx="1353312" cy="84124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9" name="Shape 19"/>
          <p:cNvSpPr/>
          <p:nvPr/>
        </p:nvSpPr>
        <p:spPr>
          <a:xfrm>
            <a:off x="7114032" y="2560320"/>
            <a:ext cx="50292" cy="512064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260336" y="2542032"/>
            <a:ext cx="89611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300" b="1">
                <a:solidFill>
                  <a:srgbClr val="F4F2FF"/>
                </a:solidFill>
                <a:latin typeface="Aptos"/>
              </a:rPr>
              <a:t xml:space="preserve">Apps</a:t>
            </a:r>
            <a:endParaRPr lang="en-US" sz="1300"/>
          </a:p>
        </p:txBody>
      </p:sp>
      <p:sp>
        <p:nvSpPr>
          <p:cNvPr id="21" name="Text 21"/>
          <p:cNvSpPr txBox="1"/>
          <p:nvPr/>
        </p:nvSpPr>
        <p:spPr>
          <a:xfrm>
            <a:off x="7260336" y="2971800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Received</a:t>
            </a:r>
            <a:endParaRPr lang="en-US" sz="1200"/>
          </a:p>
        </p:txBody>
      </p:sp>
      <p:sp>
        <p:nvSpPr>
          <p:cNvPr id="22" name="Shape 22"/>
          <p:cNvSpPr/>
          <p:nvPr/>
        </p:nvSpPr>
        <p:spPr>
          <a:xfrm>
            <a:off x="8467344" y="2395728"/>
            <a:ext cx="1353312" cy="84124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3" name="Shape 23"/>
          <p:cNvSpPr/>
          <p:nvPr/>
        </p:nvSpPr>
        <p:spPr>
          <a:xfrm>
            <a:off x="8613648" y="2560320"/>
            <a:ext cx="50292" cy="512064"/>
          </a:xfrm>
          <a:prstGeom prst="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759952" y="2542032"/>
            <a:ext cx="89611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300" b="1">
                <a:solidFill>
                  <a:srgbClr val="F4F2FF"/>
                </a:solidFill>
                <a:latin typeface="Aptos"/>
              </a:rPr>
              <a:t xml:space="preserve">Review</a:t>
            </a:r>
            <a:endParaRPr lang="en-US" sz="1300"/>
          </a:p>
        </p:txBody>
      </p:sp>
      <p:sp>
        <p:nvSpPr>
          <p:cNvPr id="25" name="Text 25"/>
          <p:cNvSpPr txBox="1"/>
          <p:nvPr/>
        </p:nvSpPr>
        <p:spPr>
          <a:xfrm>
            <a:off x="8759952" y="2971800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Pending</a:t>
            </a:r>
            <a:endParaRPr lang="en-US" sz="1200"/>
          </a:p>
        </p:txBody>
      </p:sp>
      <p:sp>
        <p:nvSpPr>
          <p:cNvPr id="26" name="Shape 26"/>
          <p:cNvSpPr/>
          <p:nvPr/>
        </p:nvSpPr>
        <p:spPr>
          <a:xfrm>
            <a:off x="9966960" y="2395728"/>
            <a:ext cx="1261872" cy="84124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7" name="Shape 27"/>
          <p:cNvSpPr/>
          <p:nvPr/>
        </p:nvSpPr>
        <p:spPr>
          <a:xfrm>
            <a:off x="10113264" y="2560320"/>
            <a:ext cx="50292" cy="512064"/>
          </a:xfrm>
          <a:prstGeom prst="rect">
            <a:avLst/>
          </a:prstGeom>
          <a:solidFill>
            <a:srgbClr val="FF78A5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10259568" y="2542032"/>
            <a:ext cx="804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300" b="1">
                <a:solidFill>
                  <a:srgbClr val="F4F2FF"/>
                </a:solidFill>
                <a:latin typeface="Aptos"/>
              </a:rPr>
              <a:t xml:space="preserve">Filled</a:t>
            </a:r>
            <a:endParaRPr lang="en-US" sz="1300"/>
          </a:p>
        </p:txBody>
      </p:sp>
      <p:sp>
        <p:nvSpPr>
          <p:cNvPr id="29" name="Text 29"/>
          <p:cNvSpPr txBox="1"/>
          <p:nvPr/>
        </p:nvSpPr>
        <p:spPr>
          <a:xfrm>
            <a:off x="10259568" y="2971800"/>
            <a:ext cx="786384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Hires</a:t>
            </a:r>
            <a:endParaRPr lang="en-US" sz="1200"/>
          </a:p>
        </p:txBody>
      </p:sp>
      <p:sp>
        <p:nvSpPr>
          <p:cNvPr id="30" name="Text 30"/>
          <p:cNvSpPr txBox="1"/>
          <p:nvPr/>
        </p:nvSpPr>
        <p:spPr>
          <a:xfrm>
            <a:off x="5532120" y="35478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 b="1">
                <a:solidFill>
                  <a:srgbClr val="F4F2FF"/>
                </a:solidFill>
                <a:latin typeface="Aptos"/>
              </a:rPr>
              <a:t xml:space="preserve">Applications over 7 days</a:t>
            </a:r>
            <a:endParaRPr lang="en-US" sz="1200"/>
          </a:p>
        </p:txBody>
      </p:sp>
      <p:sp>
        <p:nvSpPr>
          <p:cNvPr id="31" name="Shape 31"/>
          <p:cNvSpPr/>
          <p:nvPr/>
        </p:nvSpPr>
        <p:spPr>
          <a:xfrm>
            <a:off x="5623560" y="5175504"/>
            <a:ext cx="233172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32" name="Shape 32"/>
          <p:cNvSpPr/>
          <p:nvPr/>
        </p:nvSpPr>
        <p:spPr>
          <a:xfrm>
            <a:off x="5623560" y="4773168"/>
            <a:ext cx="233172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5623560" y="4361688"/>
            <a:ext cx="233172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5760720" y="5029200"/>
            <a:ext cx="411480" cy="137160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35" name="Shape 35"/>
          <p:cNvSpPr/>
          <p:nvPr/>
        </p:nvSpPr>
        <p:spPr>
          <a:xfrm>
            <a:off x="6272784" y="4690872"/>
            <a:ext cx="411480" cy="137160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36" name="Shape 36"/>
          <p:cNvSpPr/>
          <p:nvPr/>
        </p:nvSpPr>
        <p:spPr>
          <a:xfrm>
            <a:off x="6784848" y="4800600"/>
            <a:ext cx="411480" cy="137160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7296912" y="4187952"/>
            <a:ext cx="411480" cy="137160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38" name="Shape 38"/>
          <p:cNvSpPr/>
          <p:nvPr/>
        </p:nvSpPr>
        <p:spPr>
          <a:xfrm>
            <a:off x="7808976" y="4425696"/>
            <a:ext cx="411480" cy="137160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8549640" y="35478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 b="1">
                <a:solidFill>
                  <a:srgbClr val="F4F2FF"/>
                </a:solidFill>
                <a:latin typeface="Aptos"/>
              </a:rPr>
              <a:t xml:space="preserve">Application status</a:t>
            </a:r>
            <a:endParaRPr lang="en-US" sz="1200"/>
          </a:p>
        </p:txBody>
      </p:sp>
      <p:sp>
        <p:nvSpPr>
          <p:cNvPr id="40" name="Text 40"/>
          <p:cNvSpPr txBox="1"/>
          <p:nvPr/>
        </p:nvSpPr>
        <p:spPr>
          <a:xfrm>
            <a:off x="8613648" y="40690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100">
                <a:solidFill>
                  <a:srgbClr val="B0AEC8"/>
                </a:solidFill>
                <a:latin typeface="Aptos"/>
              </a:rPr>
              <a:t xml:space="preserve">Pending</a:t>
            </a:r>
            <a:endParaRPr lang="en-US" sz="1100"/>
          </a:p>
        </p:txBody>
      </p:sp>
      <p:sp>
        <p:nvSpPr>
          <p:cNvPr id="41" name="Shape 41"/>
          <p:cNvSpPr/>
          <p:nvPr/>
        </p:nvSpPr>
        <p:spPr>
          <a:xfrm>
            <a:off x="9491472" y="4169664"/>
            <a:ext cx="1024128" cy="109728"/>
          </a:xfrm>
          <a:prstGeom prst="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8613648" y="45720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100">
                <a:solidFill>
                  <a:srgbClr val="B0AEC8"/>
                </a:solidFill>
                <a:latin typeface="Aptos"/>
              </a:rPr>
              <a:t xml:space="preserve">Accepted</a:t>
            </a:r>
            <a:endParaRPr lang="en-US" sz="1100"/>
          </a:p>
        </p:txBody>
      </p:sp>
      <p:sp>
        <p:nvSpPr>
          <p:cNvPr id="43" name="Shape 43"/>
          <p:cNvSpPr/>
          <p:nvPr/>
        </p:nvSpPr>
        <p:spPr>
          <a:xfrm>
            <a:off x="9491472" y="4672584"/>
            <a:ext cx="685800" cy="109728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8613648" y="507492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100">
                <a:solidFill>
                  <a:srgbClr val="B0AEC8"/>
                </a:solidFill>
                <a:latin typeface="Aptos"/>
              </a:rPr>
              <a:t xml:space="preserve">Rejected</a:t>
            </a:r>
            <a:endParaRPr lang="en-US" sz="1100"/>
          </a:p>
        </p:txBody>
      </p:sp>
      <p:sp>
        <p:nvSpPr>
          <p:cNvPr id="45" name="Shape 45"/>
          <p:cNvSpPr/>
          <p:nvPr/>
        </p:nvSpPr>
        <p:spPr>
          <a:xfrm>
            <a:off x="9491472" y="5175504"/>
            <a:ext cx="320040" cy="109728"/>
          </a:xfrm>
          <a:prstGeom prst="rect">
            <a:avLst/>
          </a:prstGeom>
          <a:solidFill>
            <a:srgbClr val="FF78A5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5468112" y="56052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900">
                <a:solidFill>
                  <a:srgbClr val="B0AEC8"/>
                </a:solidFill>
                <a:latin typeface="Aptos"/>
              </a:rPr>
              <a:t xml:space="preserve">Dashboard graphic is illustrative; an authenticated employer screen was not captured.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05  |  APPLICATION LIFECYCLE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From job post to hire: an explicit state transition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The database links each application to one job seeker and one job.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6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58368" y="1920240"/>
            <a:ext cx="2423160" cy="132588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95528" y="2139696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500" b="1">
                <a:solidFill>
                  <a:srgbClr val="9885FF"/>
                </a:solidFill>
                <a:latin typeface="Aptos"/>
              </a:rPr>
              <a:t xml:space="preserve">Employer posts</a:t>
            </a:r>
            <a:endParaRPr lang="en-US" sz="1500"/>
          </a:p>
        </p:txBody>
      </p:sp>
      <p:sp>
        <p:nvSpPr>
          <p:cNvPr id="11" name="Text 11"/>
          <p:cNvSpPr txBox="1"/>
          <p:nvPr/>
        </p:nvSpPr>
        <p:spPr>
          <a:xfrm>
            <a:off x="795528" y="263347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100">
                <a:solidFill>
                  <a:srgbClr val="B0AEC8"/>
                </a:solidFill>
                <a:latin typeface="Aptos"/>
              </a:rPr>
              <a:t xml:space="preserve">Job starts Available</a:t>
            </a:r>
            <a:endParaRPr lang="en-US" sz="1100"/>
          </a:p>
        </p:txBody>
      </p:sp>
      <p:sp>
        <p:nvSpPr>
          <p:cNvPr id="12" name="Text 12"/>
          <p:cNvSpPr txBox="1"/>
          <p:nvPr/>
        </p:nvSpPr>
        <p:spPr>
          <a:xfrm>
            <a:off x="3127248" y="2377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2100" b="1">
                <a:solidFill>
                  <a:srgbClr val="9885FF"/>
                </a:solidFill>
                <a:latin typeface="Aptos"/>
              </a:rPr>
              <a:t xml:space="preserve">→</a:t>
            </a:r>
            <a:endParaRPr lang="en-US" sz="2100"/>
          </a:p>
        </p:txBody>
      </p:sp>
      <p:sp>
        <p:nvSpPr>
          <p:cNvPr id="13" name="Shape 13"/>
          <p:cNvSpPr/>
          <p:nvPr/>
        </p:nvSpPr>
        <p:spPr>
          <a:xfrm>
            <a:off x="3538728" y="1920240"/>
            <a:ext cx="2423160" cy="132588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3675888" y="2139696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500" b="1">
                <a:solidFill>
                  <a:srgbClr val="51D3BD"/>
                </a:solidFill>
                <a:latin typeface="Aptos"/>
              </a:rPr>
              <a:t xml:space="preserve">Job Seeker applies</a:t>
            </a:r>
            <a:endParaRPr lang="en-US" sz="1500"/>
          </a:p>
        </p:txBody>
      </p:sp>
      <p:sp>
        <p:nvSpPr>
          <p:cNvPr id="15" name="Text 15"/>
          <p:cNvSpPr txBox="1"/>
          <p:nvPr/>
        </p:nvSpPr>
        <p:spPr>
          <a:xfrm>
            <a:off x="3675888" y="263347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100">
                <a:solidFill>
                  <a:srgbClr val="B0AEC8"/>
                </a:solidFill>
                <a:latin typeface="Aptos"/>
              </a:rPr>
              <a:t xml:space="preserve">One application per job</a:t>
            </a:r>
            <a:endParaRPr lang="en-US" sz="1100"/>
          </a:p>
        </p:txBody>
      </p:sp>
      <p:sp>
        <p:nvSpPr>
          <p:cNvPr id="16" name="Text 16"/>
          <p:cNvSpPr txBox="1"/>
          <p:nvPr/>
        </p:nvSpPr>
        <p:spPr>
          <a:xfrm>
            <a:off x="6007608" y="2377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2100" b="1">
                <a:solidFill>
                  <a:srgbClr val="9885FF"/>
                </a:solidFill>
                <a:latin typeface="Aptos"/>
              </a:rPr>
              <a:t xml:space="preserve">→</a:t>
            </a:r>
            <a:endParaRPr lang="en-US" sz="2100"/>
          </a:p>
        </p:txBody>
      </p:sp>
      <p:sp>
        <p:nvSpPr>
          <p:cNvPr id="17" name="Shape 17"/>
          <p:cNvSpPr/>
          <p:nvPr/>
        </p:nvSpPr>
        <p:spPr>
          <a:xfrm>
            <a:off x="6419088" y="1920240"/>
            <a:ext cx="2423160" cy="132588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6556248" y="2139696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500" b="1">
                <a:solidFill>
                  <a:srgbClr val="FFAC65"/>
                </a:solidFill>
                <a:latin typeface="Aptos"/>
              </a:rPr>
              <a:t xml:space="preserve">Employer reviews</a:t>
            </a:r>
            <a:endParaRPr lang="en-US" sz="1500"/>
          </a:p>
        </p:txBody>
      </p:sp>
      <p:sp>
        <p:nvSpPr>
          <p:cNvPr id="19" name="Text 19"/>
          <p:cNvSpPr txBox="1"/>
          <p:nvPr/>
        </p:nvSpPr>
        <p:spPr>
          <a:xfrm>
            <a:off x="6556248" y="263347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100">
                <a:solidFill>
                  <a:srgbClr val="B0AEC8"/>
                </a:solidFill>
                <a:latin typeface="Aptos"/>
              </a:rPr>
              <a:t xml:space="preserve">Details access is controlled</a:t>
            </a:r>
            <a:endParaRPr lang="en-US" sz="1100"/>
          </a:p>
        </p:txBody>
      </p:sp>
      <p:sp>
        <p:nvSpPr>
          <p:cNvPr id="20" name="Text 20"/>
          <p:cNvSpPr txBox="1"/>
          <p:nvPr/>
        </p:nvSpPr>
        <p:spPr>
          <a:xfrm>
            <a:off x="8887968" y="2377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2100" b="1">
                <a:solidFill>
                  <a:srgbClr val="9885FF"/>
                </a:solidFill>
                <a:latin typeface="Aptos"/>
              </a:rPr>
              <a:t xml:space="preserve">→</a:t>
            </a:r>
            <a:endParaRPr lang="en-US" sz="2100"/>
          </a:p>
        </p:txBody>
      </p:sp>
      <p:sp>
        <p:nvSpPr>
          <p:cNvPr id="21" name="Shape 21"/>
          <p:cNvSpPr/>
          <p:nvPr/>
        </p:nvSpPr>
        <p:spPr>
          <a:xfrm>
            <a:off x="9299448" y="1920240"/>
            <a:ext cx="2423160" cy="132588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9436608" y="2139696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500" b="1">
                <a:solidFill>
                  <a:srgbClr val="FF78A5"/>
                </a:solidFill>
                <a:latin typeface="Aptos"/>
              </a:rPr>
              <a:t xml:space="preserve">Job Seeker selected</a:t>
            </a:r>
            <a:endParaRPr lang="en-US" sz="1500"/>
          </a:p>
        </p:txBody>
      </p:sp>
      <p:sp>
        <p:nvSpPr>
          <p:cNvPr id="23" name="Text 23"/>
          <p:cNvSpPr txBox="1"/>
          <p:nvPr/>
        </p:nvSpPr>
        <p:spPr>
          <a:xfrm>
            <a:off x="9436608" y="263347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100">
                <a:solidFill>
                  <a:srgbClr val="B0AEC8"/>
                </a:solidFill>
                <a:latin typeface="Aptos"/>
              </a:rPr>
              <a:t xml:space="preserve">Job becomes Taken</a:t>
            </a:r>
            <a:endParaRPr lang="en-US" sz="1100"/>
          </a:p>
        </p:txBody>
      </p:sp>
      <p:sp>
        <p:nvSpPr>
          <p:cNvPr id="24" name="Shape 24"/>
          <p:cNvSpPr/>
          <p:nvPr/>
        </p:nvSpPr>
        <p:spPr>
          <a:xfrm>
            <a:off x="731520" y="3703320"/>
            <a:ext cx="5120640" cy="17373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5" name="Shape 25"/>
          <p:cNvSpPr/>
          <p:nvPr/>
        </p:nvSpPr>
        <p:spPr>
          <a:xfrm>
            <a:off x="877824" y="3867912"/>
            <a:ext cx="50292" cy="1408176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1024128" y="3849624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Application record</a:t>
            </a:r>
            <a:endParaRPr lang="en-US" sz="1600"/>
          </a:p>
        </p:txBody>
      </p:sp>
      <p:sp>
        <p:nvSpPr>
          <p:cNvPr id="27" name="Text 27"/>
          <p:cNvSpPr txBox="1"/>
          <p:nvPr/>
        </p:nvSpPr>
        <p:spPr>
          <a:xfrm>
            <a:off x="1024128" y="4279392"/>
            <a:ext cx="464515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Required cover letter; optional experience and portfolio URL. A unique job and job seeker pairing prevents duplicate applications.</a:t>
            </a:r>
            <a:endParaRPr lang="en-US" sz="1200"/>
          </a:p>
        </p:txBody>
      </p:sp>
      <p:sp>
        <p:nvSpPr>
          <p:cNvPr id="28" name="Shape 28"/>
          <p:cNvSpPr/>
          <p:nvPr/>
        </p:nvSpPr>
        <p:spPr>
          <a:xfrm>
            <a:off x="6263640" y="3703320"/>
            <a:ext cx="5120640" cy="17373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9" name="Shape 29"/>
          <p:cNvSpPr/>
          <p:nvPr/>
        </p:nvSpPr>
        <p:spPr>
          <a:xfrm>
            <a:off x="6409944" y="3867912"/>
            <a:ext cx="50292" cy="1408176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556248" y="3849624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Hiring outcome</a:t>
            </a:r>
            <a:endParaRPr lang="en-US" sz="1600"/>
          </a:p>
        </p:txBody>
      </p:sp>
      <p:sp>
        <p:nvSpPr>
          <p:cNvPr id="31" name="Text 31"/>
          <p:cNvSpPr txBox="1"/>
          <p:nvPr/>
        </p:nvSpPr>
        <p:spPr>
          <a:xfrm>
            <a:off x="6556248" y="4279392"/>
            <a:ext cx="464515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Selecting an eligible applicant marks the job Taken and rejects other pending applications for that job.</a:t>
            </a:r>
            <a:endParaRPr lang="en-US" sz="1200"/>
          </a:p>
        </p:txBody>
      </p:sp>
      <p:sp>
        <p:nvSpPr>
          <p:cNvPr id="32" name="Text 32"/>
          <p:cNvSpPr txBox="1"/>
          <p:nvPr/>
        </p:nvSpPr>
        <p:spPr>
          <a:xfrm>
            <a:off x="822960" y="58704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Employer actions are checked against the signed-in employer and the employer’s own job records.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06  |  PREMIUM ACCESS &amp; CHECKOUT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Premium access expands the free limits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Free employers can post up to 8 active jobs; free job seekers can view 8 jobs each month.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7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85800" y="1691640"/>
            <a:ext cx="3429000" cy="138988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832104" y="1856232"/>
            <a:ext cx="50292" cy="1060704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78408" y="1837944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Employer job limit</a:t>
            </a:r>
            <a:endParaRPr lang="en-US" sz="1600"/>
          </a:p>
        </p:txBody>
      </p:sp>
      <p:sp>
        <p:nvSpPr>
          <p:cNvPr id="12" name="Text 12"/>
          <p:cNvSpPr txBox="1"/>
          <p:nvPr/>
        </p:nvSpPr>
        <p:spPr>
          <a:xfrm>
            <a:off x="978408" y="2267712"/>
            <a:ext cx="2953512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Free employers can maintain up to 8 active available jobs; premium users can post more.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4389120" y="1691640"/>
            <a:ext cx="3429000" cy="138988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535424" y="1856232"/>
            <a:ext cx="50292" cy="1060704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81728" y="1837944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Job seeker limit</a:t>
            </a:r>
            <a:endParaRPr lang="en-US" sz="1600"/>
          </a:p>
        </p:txBody>
      </p:sp>
      <p:sp>
        <p:nvSpPr>
          <p:cNvPr id="16" name="Text 16"/>
          <p:cNvSpPr txBox="1"/>
          <p:nvPr/>
        </p:nvSpPr>
        <p:spPr>
          <a:xfrm>
            <a:off x="4681728" y="2267712"/>
            <a:ext cx="2953512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Free job seekers can view up to 8 different jobs per month; views are tracked monthly.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8092440" y="1691640"/>
            <a:ext cx="3429000" cy="1389888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238744" y="1856232"/>
            <a:ext cx="50292" cy="1060704"/>
          </a:xfrm>
          <a:prstGeom prst="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385048" y="1837944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Premium access</a:t>
            </a:r>
            <a:endParaRPr lang="en-US" sz="1600"/>
          </a:p>
        </p:txBody>
      </p:sp>
      <p:sp>
        <p:nvSpPr>
          <p:cNvPr id="20" name="Text 20"/>
          <p:cNvSpPr txBox="1"/>
          <p:nvPr/>
        </p:nvSpPr>
        <p:spPr>
          <a:xfrm>
            <a:off x="8385048" y="2267712"/>
            <a:ext cx="2953512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An active premium entitlement bypasses these free-plan job limits.</a:t>
            </a:r>
            <a:endParaRPr lang="en-US" sz="1200"/>
          </a:p>
        </p:txBody>
      </p:sp>
      <p:sp>
        <p:nvSpPr>
          <p:cNvPr id="21" name="Text 21"/>
          <p:cNvSpPr txBox="1"/>
          <p:nvPr/>
        </p:nvSpPr>
        <p:spPr>
          <a:xfrm>
            <a:off x="841248" y="35478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 b="1">
                <a:solidFill>
                  <a:srgbClr val="F4F2FF"/>
                </a:solidFill>
                <a:latin typeface="Aptos"/>
              </a:rPr>
              <a:t xml:space="preserve">Checkout enforcement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914400" y="4041648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B0AEC8"/>
                </a:solidFill>
                <a:latin typeface="Aptos"/>
              </a:rPr>
              <a:t xml:space="preserve">• Server checks job-posting and monthly job-view limits\n• Premium expiry is checked against the user record\n• Job views are tracked by user, month, and job ID\n• Limit notices are shown when the free allowance is reached</a:t>
            </a:r>
            <a:endParaRPr lang="en-US" sz="1400"/>
          </a:p>
        </p:txBody>
      </p:sp>
      <p:sp>
        <p:nvSpPr>
          <p:cNvPr id="23" name="Shape 23"/>
          <p:cNvSpPr/>
          <p:nvPr/>
        </p:nvSpPr>
        <p:spPr>
          <a:xfrm>
            <a:off x="6080760" y="3547872"/>
            <a:ext cx="5303520" cy="1664208"/>
          </a:xfrm>
          <a:prstGeom prst="roundRect">
            <a:avLst/>
          </a:prstGeom>
          <a:solidFill>
            <a:srgbClr val="303049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327648" y="3794760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F4F2FF"/>
                </a:solidFill>
                <a:latin typeface="Aptos"/>
              </a:rPr>
              <a:t xml:space="preserve">Sandbox MTN MoMo: top up 500 XAF, then spend 500 XAF for 50 Premium days. No withdrawals; not live.</a:t>
            </a:r>
            <a:endParaRPr lang="en-US" sz="1500"/>
          </a:p>
        </p:txBody>
      </p:sp>
      <p:sp>
        <p:nvSpPr>
          <p:cNvPr id="25" name="Text 25"/>
          <p:cNvSpPr txBox="1"/>
          <p:nvPr/>
        </p:nvSpPr>
        <p:spPr>
          <a:xfrm>
            <a:off x="868680" y="57607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>
                <a:solidFill>
                  <a:srgbClr val="FFAC65"/>
                </a:solidFill>
                <a:latin typeface="Aptos"/>
              </a:rPr>
              <a:t xml:space="preserve">Activation follows a provider-confirmed payment; sandbox mode never charges real money.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07  |  EMPLOYER DASHBOARD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Metrics and charts provide a quick hiring pulse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Dashboard data refreshes every 30 seconds; employers can also refresh manually.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8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85800" y="1664208"/>
            <a:ext cx="2606040" cy="10058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896112" y="1847088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B0AEC8"/>
                </a:solidFill>
                <a:latin typeface="Aptos"/>
              </a:rPr>
              <a:t xml:space="preserve">TOTAL JOBS</a:t>
            </a:r>
            <a:endParaRPr lang="en-US" sz="1000"/>
          </a:p>
        </p:txBody>
      </p:sp>
      <p:sp>
        <p:nvSpPr>
          <p:cNvPr id="11" name="Text 11"/>
          <p:cNvSpPr txBox="1"/>
          <p:nvPr/>
        </p:nvSpPr>
        <p:spPr>
          <a:xfrm>
            <a:off x="896112" y="2112264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800" b="1">
                <a:solidFill>
                  <a:srgbClr val="9885FF"/>
                </a:solidFill>
                <a:latin typeface="Aptos"/>
              </a:rPr>
              <a:t xml:space="preserve">Total / filled</a:t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3493008" y="1664208"/>
            <a:ext cx="2606040" cy="10058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3703320" y="1847088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B0AEC8"/>
                </a:solidFill>
                <a:latin typeface="Aptos"/>
              </a:rPr>
              <a:t xml:space="preserve">APPLICATIONS</a:t>
            </a:r>
            <a:endParaRPr lang="en-US" sz="1000"/>
          </a:p>
        </p:txBody>
      </p:sp>
      <p:sp>
        <p:nvSpPr>
          <p:cNvPr id="14" name="Text 14"/>
          <p:cNvSpPr txBox="1"/>
          <p:nvPr/>
        </p:nvSpPr>
        <p:spPr>
          <a:xfrm>
            <a:off x="3703320" y="2112264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800" b="1">
                <a:solidFill>
                  <a:srgbClr val="51D3BD"/>
                </a:solidFill>
                <a:latin typeface="Aptos"/>
              </a:rPr>
              <a:t xml:space="preserve">Total received</a:t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300216" y="1664208"/>
            <a:ext cx="2606040" cy="10058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510528" y="1847088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B0AEC8"/>
                </a:solidFill>
                <a:latin typeface="Aptos"/>
              </a:rPr>
              <a:t xml:space="preserve">AWAITING REVIEW</a:t>
            </a:r>
            <a:endParaRPr lang="en-US" sz="1000"/>
          </a:p>
        </p:txBody>
      </p:sp>
      <p:sp>
        <p:nvSpPr>
          <p:cNvPr id="17" name="Text 17"/>
          <p:cNvSpPr txBox="1"/>
          <p:nvPr/>
        </p:nvSpPr>
        <p:spPr>
          <a:xfrm>
            <a:off x="6510528" y="2112264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800" b="1">
                <a:solidFill>
                  <a:srgbClr val="FFAC65"/>
                </a:solidFill>
                <a:latin typeface="Aptos"/>
              </a:rPr>
              <a:t xml:space="preserve">Pending</a:t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9107424" y="1664208"/>
            <a:ext cx="2395728" cy="10058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9308592" y="1847088"/>
            <a:ext cx="196596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B0AEC8"/>
                </a:solidFill>
                <a:latin typeface="Aptos"/>
              </a:rPr>
              <a:t xml:space="preserve">JOBS FILLED</a:t>
            </a:r>
            <a:endParaRPr lang="en-US" sz="1000"/>
          </a:p>
        </p:txBody>
      </p:sp>
      <p:sp>
        <p:nvSpPr>
          <p:cNvPr id="20" name="Text 20"/>
          <p:cNvSpPr txBox="1"/>
          <p:nvPr/>
        </p:nvSpPr>
        <p:spPr>
          <a:xfrm>
            <a:off x="9308592" y="2112264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800" b="1">
                <a:solidFill>
                  <a:srgbClr val="FF78A5"/>
                </a:solidFill>
                <a:latin typeface="Aptos"/>
              </a:rPr>
              <a:t xml:space="preserve">Hires</a:t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685800" y="2926080"/>
            <a:ext cx="6720840" cy="26517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932688" y="3127248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Applications over the last 7 days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1188720" y="3858768"/>
            <a:ext cx="5715000" cy="12802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1188720" y="4206240"/>
            <a:ext cx="5715000" cy="12802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1188720" y="4553712"/>
            <a:ext cx="5715000" cy="12802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1188720" y="4901184"/>
            <a:ext cx="5715000" cy="12802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27" name="Trend segment"/>
          <p:cNvSpPr/>
          <p:nvPr/>
        </p:nvSpPr>
        <p:spPr>
          <a:xfrm rot="-19440">
            <a:off x="1417320" y="4983480"/>
            <a:ext cx="824229" cy="41148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28" name="Trend segment"/>
          <p:cNvSpPr/>
          <p:nvPr/>
        </p:nvSpPr>
        <p:spPr>
          <a:xfrm rot="11310">
            <a:off x="2194560" y="4709160"/>
            <a:ext cx="792632" cy="41148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29" name="Trend segment"/>
          <p:cNvSpPr/>
          <p:nvPr/>
        </p:nvSpPr>
        <p:spPr>
          <a:xfrm rot="-36107">
            <a:off x="2971800" y="4864608"/>
            <a:ext cx="962034" cy="41148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30" name="Trend segment"/>
          <p:cNvSpPr/>
          <p:nvPr/>
        </p:nvSpPr>
        <p:spPr>
          <a:xfrm rot="16390">
            <a:off x="3749040" y="4297680"/>
            <a:ext cx="810160" cy="41148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31" name="Trend segment"/>
          <p:cNvSpPr/>
          <p:nvPr/>
        </p:nvSpPr>
        <p:spPr>
          <a:xfrm rot="-35218">
            <a:off x="4526280" y="4526280"/>
            <a:ext cx="951372" cy="41148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32" name="Trend segment"/>
          <p:cNvSpPr/>
          <p:nvPr/>
        </p:nvSpPr>
        <p:spPr>
          <a:xfrm rot="10008">
            <a:off x="5303520" y="3977640"/>
            <a:ext cx="789250" cy="41148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7635240" y="2926080"/>
            <a:ext cx="3867912" cy="26517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7882128" y="3127248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Applications by status</a:t>
            </a:r>
            <a:endParaRPr lang="en-US" sz="1600"/>
          </a:p>
        </p:txBody>
      </p:sp>
      <p:sp>
        <p:nvSpPr>
          <p:cNvPr id="35" name="Text 35"/>
          <p:cNvSpPr txBox="1"/>
          <p:nvPr/>
        </p:nvSpPr>
        <p:spPr>
          <a:xfrm>
            <a:off x="7909560" y="38404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>
                <a:solidFill>
                  <a:srgbClr val="B0AEC8"/>
                </a:solidFill>
                <a:latin typeface="Aptos"/>
              </a:rPr>
              <a:t xml:space="preserve">Pending</a:t>
            </a:r>
            <a:endParaRPr lang="en-US" sz="1000"/>
          </a:p>
        </p:txBody>
      </p:sp>
      <p:sp>
        <p:nvSpPr>
          <p:cNvPr id="36" name="Shape 36"/>
          <p:cNvSpPr/>
          <p:nvPr/>
        </p:nvSpPr>
        <p:spPr>
          <a:xfrm>
            <a:off x="9006840" y="3877056"/>
            <a:ext cx="1965960" cy="146304"/>
          </a:xfrm>
          <a:prstGeom prst="roundRect">
            <a:avLst/>
          </a:prstGeom>
          <a:solidFill>
            <a:srgbClr val="3A3A54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9006840" y="3877056"/>
            <a:ext cx="1828800" cy="146304"/>
          </a:xfrm>
          <a:prstGeom prst="round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7909560" y="43434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>
                <a:solidFill>
                  <a:srgbClr val="B0AEC8"/>
                </a:solidFill>
                <a:latin typeface="Aptos"/>
              </a:rPr>
              <a:t xml:space="preserve">Accepted</a:t>
            </a:r>
            <a:endParaRPr lang="en-US" sz="1000"/>
          </a:p>
        </p:txBody>
      </p:sp>
      <p:sp>
        <p:nvSpPr>
          <p:cNvPr id="39" name="Shape 39"/>
          <p:cNvSpPr/>
          <p:nvPr/>
        </p:nvSpPr>
        <p:spPr>
          <a:xfrm>
            <a:off x="9006840" y="4379976"/>
            <a:ext cx="1965960" cy="146304"/>
          </a:xfrm>
          <a:prstGeom prst="roundRect">
            <a:avLst/>
          </a:prstGeom>
          <a:solidFill>
            <a:srgbClr val="3A3A54"/>
          </a:solidFill>
          <a:ln>
            <a:noFill/>
          </a:ln>
        </p:spPr>
      </p:sp>
      <p:sp>
        <p:nvSpPr>
          <p:cNvPr id="40" name="Shape 40"/>
          <p:cNvSpPr/>
          <p:nvPr/>
        </p:nvSpPr>
        <p:spPr>
          <a:xfrm>
            <a:off x="9006840" y="4379976"/>
            <a:ext cx="1234440" cy="146304"/>
          </a:xfrm>
          <a:prstGeom prst="round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7909560" y="484632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>
                <a:solidFill>
                  <a:srgbClr val="B0AEC8"/>
                </a:solidFill>
                <a:latin typeface="Aptos"/>
              </a:rPr>
              <a:t xml:space="preserve">Rejected</a:t>
            </a:r>
            <a:endParaRPr lang="en-US" sz="1000"/>
          </a:p>
        </p:txBody>
      </p:sp>
      <p:sp>
        <p:nvSpPr>
          <p:cNvPr id="42" name="Shape 42"/>
          <p:cNvSpPr/>
          <p:nvPr/>
        </p:nvSpPr>
        <p:spPr>
          <a:xfrm>
            <a:off x="9006840" y="4882896"/>
            <a:ext cx="1965960" cy="146304"/>
          </a:xfrm>
          <a:prstGeom prst="roundRect">
            <a:avLst/>
          </a:prstGeom>
          <a:solidFill>
            <a:srgbClr val="3A3A54"/>
          </a:solidFill>
          <a:ln>
            <a:noFill/>
          </a:ln>
        </p:spPr>
      </p:sp>
      <p:sp>
        <p:nvSpPr>
          <p:cNvPr id="43" name="Shape 43"/>
          <p:cNvSpPr/>
          <p:nvPr/>
        </p:nvSpPr>
        <p:spPr>
          <a:xfrm>
            <a:off x="9006840" y="4882896"/>
            <a:ext cx="731520" cy="146304"/>
          </a:xfrm>
          <a:prstGeom prst="roundRect">
            <a:avLst/>
          </a:prstGeom>
          <a:solidFill>
            <a:srgbClr val="FF78A5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822960" y="5897880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100">
                <a:solidFill>
                  <a:srgbClr val="B0AEC8"/>
                </a:solidFill>
                <a:latin typeface="Aptos"/>
              </a:rPr>
              <a:t xml:space="preserve">Live charts and map use this employer's own records and refresh every 30 seconds; slide previews are illustrative.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08  |  PROFILES &amp; PRIVACY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Profiles are shareable; private contact details are not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One profile supports job seeker discoverability without exposing email by default.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9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85800" y="1691640"/>
            <a:ext cx="3474720" cy="14630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832104" y="1856232"/>
            <a:ext cx="50292" cy="1133856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78408" y="183794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Public profile</a:t>
            </a:r>
            <a:endParaRPr lang="en-US" sz="1600"/>
          </a:p>
        </p:txBody>
      </p:sp>
      <p:sp>
        <p:nvSpPr>
          <p:cNvPr id="12" name="Text 12"/>
          <p:cNvSpPr txBox="1"/>
          <p:nvPr/>
        </p:nvSpPr>
        <p:spPr>
          <a:xfrm>
            <a:off x="978408" y="2267712"/>
            <a:ext cx="2999232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Display name, account type, member date, and profile picture.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4370832" y="1691640"/>
            <a:ext cx="3474720" cy="14630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517136" y="1856232"/>
            <a:ext cx="50292" cy="1133856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63440" y="183794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Private by default</a:t>
            </a:r>
            <a:endParaRPr lang="en-US" sz="1600"/>
          </a:p>
        </p:txBody>
      </p:sp>
      <p:sp>
        <p:nvSpPr>
          <p:cNvPr id="16" name="Text 16"/>
          <p:cNvSpPr txBox="1"/>
          <p:nvPr/>
        </p:nvSpPr>
        <p:spPr>
          <a:xfrm>
            <a:off x="4663440" y="2267712"/>
            <a:ext cx="2999232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Email and private application data are not displayed on public profiles.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8046720" y="1691640"/>
            <a:ext cx="3474720" cy="14630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93024" y="1856232"/>
            <a:ext cx="50292" cy="1133856"/>
          </a:xfrm>
          <a:prstGeom prst="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339328" y="183794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Picture validation</a:t>
            </a:r>
            <a:endParaRPr lang="en-US" sz="1600"/>
          </a:p>
        </p:txBody>
      </p:sp>
      <p:sp>
        <p:nvSpPr>
          <p:cNvPr id="20" name="Text 20"/>
          <p:cNvSpPr txBox="1"/>
          <p:nvPr/>
        </p:nvSpPr>
        <p:spPr>
          <a:xfrm>
            <a:off x="8339328" y="2267712"/>
            <a:ext cx="2999232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JPEG, PNG, or WebP; maximum 2 MB; image dimensions and detected MIME type are checked.</a:t>
            </a:r>
            <a:endParaRPr lang="en-US" sz="1200"/>
          </a:p>
        </p:txBody>
      </p:sp>
      <p:sp>
        <p:nvSpPr>
          <p:cNvPr id="21" name="Shape 21"/>
          <p:cNvSpPr/>
          <p:nvPr/>
        </p:nvSpPr>
        <p:spPr>
          <a:xfrm>
            <a:off x="777240" y="3685032"/>
            <a:ext cx="4983480" cy="1481328"/>
          </a:xfrm>
          <a:prstGeom prst="roundRect">
            <a:avLst/>
          </a:prstGeom>
          <a:solidFill>
            <a:srgbClr val="303049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024128" y="3904488"/>
            <a:ext cx="448056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 b="1">
                <a:solidFill>
                  <a:srgbClr val="F4F2FF"/>
                </a:solidFill>
                <a:latin typeface="Aptos"/>
              </a:rPr>
              <a:t xml:space="preserve">Applicant details are associated with the employer’s own jobs. No applicant-unlock payment is required.</a:t>
            </a:r>
            <a:endParaRPr lang="en-US" sz="1700"/>
          </a:p>
        </p:txBody>
      </p:sp>
      <p:sp>
        <p:nvSpPr>
          <p:cNvPr id="23" name="Shape 23"/>
          <p:cNvSpPr/>
          <p:nvPr/>
        </p:nvSpPr>
        <p:spPr>
          <a:xfrm>
            <a:off x="6144768" y="3685032"/>
            <a:ext cx="4983480" cy="1481328"/>
          </a:xfrm>
          <a:prstGeom prst="roundRect">
            <a:avLst/>
          </a:prstGeom>
          <a:solidFill>
            <a:srgbClr val="303049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400800" y="3904488"/>
            <a:ext cx="448056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F4F2FF"/>
                </a:solidFill>
                <a:latin typeface="Aptos"/>
              </a:rPr>
              <a:t xml:space="preserve">Applications can include a required cover letter, optional experience, and an optional HTTP/HTTPS portfolio URL.</a:t>
            </a:r>
            <a:endParaRPr lang="en-US" sz="1600"/>
          </a:p>
        </p:txBody>
      </p:sp>
      <p:sp>
        <p:nvSpPr>
          <p:cNvPr id="25" name="Text 25"/>
          <p:cNvSpPr txBox="1"/>
          <p:nvPr/>
        </p:nvSpPr>
        <p:spPr>
          <a:xfrm>
            <a:off x="868680" y="5577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Public profile route is designed to expose a limited view; always verify authorization on private actions server-side.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09  |  SYSTEM ARCHITECTURE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A compact server-rendered stack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Each request passes through PHP before data is read or changed in the relational database.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10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85800" y="1828800"/>
            <a:ext cx="2240280" cy="12344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868680" y="2075688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700" b="1">
                <a:solidFill>
                  <a:srgbClr val="F4F2FF"/>
                </a:solidFill>
                <a:latin typeface="Aptos"/>
              </a:rPr>
              <a:t xml:space="preserve">Browser\nJob Seeker / employer</a:t>
            </a:r>
            <a:endParaRPr lang="en-US" sz="1700"/>
          </a:p>
        </p:txBody>
      </p:sp>
      <p:sp>
        <p:nvSpPr>
          <p:cNvPr id="11" name="Shape 11"/>
          <p:cNvSpPr/>
          <p:nvPr/>
        </p:nvSpPr>
        <p:spPr>
          <a:xfrm>
            <a:off x="3611880" y="1828800"/>
            <a:ext cx="2240280" cy="12344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3794760" y="2075688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700" b="1">
                <a:solidFill>
                  <a:srgbClr val="9885FF"/>
                </a:solidFill>
                <a:latin typeface="Aptos"/>
              </a:rPr>
              <a:t xml:space="preserve">PHP 8.1+\nindex.php + PDO</a:t>
            </a:r>
            <a:endParaRPr lang="en-US" sz="1700"/>
          </a:p>
        </p:txBody>
      </p:sp>
      <p:sp>
        <p:nvSpPr>
          <p:cNvPr id="13" name="Shape 13"/>
          <p:cNvSpPr/>
          <p:nvPr/>
        </p:nvSpPr>
        <p:spPr>
          <a:xfrm>
            <a:off x="6537960" y="1828800"/>
            <a:ext cx="2240280" cy="12344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720840" y="2075688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700" b="1">
                <a:solidFill>
                  <a:srgbClr val="51D3BD"/>
                </a:solidFill>
                <a:latin typeface="Aptos"/>
              </a:rPr>
              <a:t xml:space="preserve">MySQL / MariaDB\nInnoDB tables</a:t>
            </a:r>
            <a:endParaRPr lang="en-US" sz="1700"/>
          </a:p>
        </p:txBody>
      </p:sp>
      <p:sp>
        <p:nvSpPr>
          <p:cNvPr id="15" name="Shape 15"/>
          <p:cNvSpPr/>
          <p:nvPr/>
        </p:nvSpPr>
        <p:spPr>
          <a:xfrm>
            <a:off x="9464040" y="1828800"/>
            <a:ext cx="2011680" cy="123444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646920" y="2075688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1500" b="1">
                <a:solidFill>
                  <a:srgbClr val="FFAC65"/>
                </a:solidFill>
                <a:latin typeface="Aptos"/>
              </a:rPr>
              <a:t xml:space="preserve">External services\nSMTP + MTN MoMo sandbox wallet top-ups</a:t>
            </a:r>
            <a:endParaRPr lang="en-US" sz="1500"/>
          </a:p>
        </p:txBody>
      </p:sp>
      <p:sp>
        <p:nvSpPr>
          <p:cNvPr id="17" name="Text 17"/>
          <p:cNvSpPr txBox="1"/>
          <p:nvPr/>
        </p:nvSpPr>
        <p:spPr>
          <a:xfrm>
            <a:off x="2971800" y="2377440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2300" b="1">
                <a:solidFill>
                  <a:srgbClr val="9885FF"/>
                </a:solidFill>
                <a:latin typeface="Aptos"/>
              </a:rPr>
              <a:t xml:space="preserve">→</a:t>
            </a:r>
            <a:endParaRPr lang="en-US" sz="2300"/>
          </a:p>
        </p:txBody>
      </p:sp>
      <p:sp>
        <p:nvSpPr>
          <p:cNvPr id="18" name="Text 18"/>
          <p:cNvSpPr txBox="1"/>
          <p:nvPr/>
        </p:nvSpPr>
        <p:spPr>
          <a:xfrm>
            <a:off x="5897880" y="2377440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2300" b="1">
                <a:solidFill>
                  <a:srgbClr val="9885FF"/>
                </a:solidFill>
                <a:latin typeface="Aptos"/>
              </a:rPr>
              <a:t xml:space="preserve">→</a:t>
            </a:r>
            <a:endParaRPr lang="en-US" sz="2300"/>
          </a:p>
        </p:txBody>
      </p:sp>
      <p:sp>
        <p:nvSpPr>
          <p:cNvPr id="19" name="Text 19"/>
          <p:cNvSpPr txBox="1"/>
          <p:nvPr/>
        </p:nvSpPr>
        <p:spPr>
          <a:xfrm>
            <a:off x="8823960" y="2377440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">
              <a:spcAft>
                <a:spcPts val="500"/>
              </a:spcAft>
            </a:pPr>
            <a:r>
              <a:rPr lang="en-US" sz="2300" b="1">
                <a:solidFill>
                  <a:srgbClr val="9885FF"/>
                </a:solidFill>
                <a:latin typeface="Aptos"/>
              </a:rPr>
              <a:t xml:space="preserve">→</a:t>
            </a:r>
            <a:endParaRPr lang="en-US" sz="2300"/>
          </a:p>
        </p:txBody>
      </p:sp>
      <p:sp>
        <p:nvSpPr>
          <p:cNvPr id="20" name="Shape 20"/>
          <p:cNvSpPr/>
          <p:nvPr/>
        </p:nvSpPr>
        <p:spPr>
          <a:xfrm>
            <a:off x="868680" y="3794760"/>
            <a:ext cx="3200400" cy="132588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1014984" y="3959352"/>
            <a:ext cx="50292" cy="996696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161288" y="394106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Server responsibilities</a:t>
            </a:r>
            <a:endParaRPr lang="en-US" sz="1500"/>
          </a:p>
        </p:txBody>
      </p:sp>
      <p:sp>
        <p:nvSpPr>
          <p:cNvPr id="23" name="Text 23"/>
          <p:cNvSpPr txBox="1"/>
          <p:nvPr/>
        </p:nvSpPr>
        <p:spPr>
          <a:xfrm>
            <a:off x="1161288" y="4370832"/>
            <a:ext cx="2724912" cy="63093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Authentication, role checks, validation, CSRF, workflows, JSON refresh endpoint.</a:t>
            </a:r>
            <a:endParaRPr lang="en-US" sz="1200"/>
          </a:p>
        </p:txBody>
      </p:sp>
      <p:sp>
        <p:nvSpPr>
          <p:cNvPr id="24" name="Shape 24"/>
          <p:cNvSpPr/>
          <p:nvPr/>
        </p:nvSpPr>
        <p:spPr>
          <a:xfrm>
            <a:off x="4480560" y="3794760"/>
            <a:ext cx="3200400" cy="132588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5" name="Shape 25"/>
          <p:cNvSpPr/>
          <p:nvPr/>
        </p:nvSpPr>
        <p:spPr>
          <a:xfrm>
            <a:off x="4626864" y="3959352"/>
            <a:ext cx="50292" cy="996696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4773168" y="394106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Database responsibilities</a:t>
            </a:r>
            <a:endParaRPr lang="en-US" sz="1500"/>
          </a:p>
        </p:txBody>
      </p:sp>
      <p:sp>
        <p:nvSpPr>
          <p:cNvPr id="27" name="Text 27"/>
          <p:cNvSpPr txBox="1"/>
          <p:nvPr/>
        </p:nvSpPr>
        <p:spPr>
          <a:xfrm>
            <a:off x="4773168" y="4370832"/>
            <a:ext cx="2724912" cy="63093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Relationships, unique constraints, indexes, cascading cleanup, durable state.</a:t>
            </a:r>
            <a:endParaRPr lang="en-US" sz="1200"/>
          </a:p>
        </p:txBody>
      </p:sp>
      <p:sp>
        <p:nvSpPr>
          <p:cNvPr id="28" name="Shape 28"/>
          <p:cNvSpPr/>
          <p:nvPr/>
        </p:nvSpPr>
        <p:spPr>
          <a:xfrm>
            <a:off x="8092440" y="3794760"/>
            <a:ext cx="3200400" cy="132588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9" name="Shape 29"/>
          <p:cNvSpPr/>
          <p:nvPr/>
        </p:nvSpPr>
        <p:spPr>
          <a:xfrm>
            <a:off x="8238744" y="3959352"/>
            <a:ext cx="50292" cy="996696"/>
          </a:xfrm>
          <a:prstGeom prst="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8385048" y="394106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Integrations</a:t>
            </a:r>
            <a:endParaRPr lang="en-US" sz="1500"/>
          </a:p>
        </p:txBody>
      </p:sp>
      <p:sp>
        <p:nvSpPr>
          <p:cNvPr id="31" name="Text 31"/>
          <p:cNvSpPr txBox="1"/>
          <p:nvPr/>
        </p:nvSpPr>
        <p:spPr>
          <a:xfrm>
            <a:off x="8385048" y="4370832"/>
            <a:ext cx="2724912" cy="63093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SMTP handles sign-in codes; MTN MoMo Collection API handles sandbox wallet top-ups and payment-status checks.</a:t>
            </a:r>
            <a:endParaRPr lang="en-US" sz="1200"/>
          </a:p>
        </p:txBody>
      </p:sp>
      <p:sp>
        <p:nvSpPr>
          <p:cNvPr id="32" name="Text 32"/>
          <p:cNvSpPr txBox="1"/>
          <p:nvPr/>
        </p:nvSpPr>
        <p:spPr>
          <a:xfrm>
            <a:off x="868680" y="5623560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No frontend framework is required; the dashboard charts are SVG rendered in the browser from employer-scoped JSON data.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10  |  DATA &amp; SCALE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The schema supports a very large user ID space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A 64-bit identifier is a capacity foundation—not a promise of unlimited storage or throughput.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11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58368" y="1691640"/>
            <a:ext cx="3520440" cy="15087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804672" y="1856232"/>
            <a:ext cx="50292" cy="1179576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0976" y="1837944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 b="1">
                <a:solidFill>
                  <a:srgbClr val="F4F2FF"/>
                </a:solidFill>
                <a:latin typeface="Aptos"/>
              </a:rPr>
              <a:t xml:space="preserve">users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950976" y="2267712"/>
            <a:ext cx="3044952" cy="81381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BIGINT UNSIGNED primary key; unique email; role index; password and OTP hashes; optional profile image.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4343400" y="1691640"/>
            <a:ext cx="3520440" cy="15087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489704" y="1856232"/>
            <a:ext cx="50292" cy="1179576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36008" y="1837944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 b="1">
                <a:solidFill>
                  <a:srgbClr val="F4F2FF"/>
                </a:solidFill>
                <a:latin typeface="Aptos"/>
              </a:rPr>
              <a:t xml:space="preserve">jobs + applications</a:t>
            </a:r>
            <a:endParaRPr lang="en-US" sz="1700"/>
          </a:p>
        </p:txBody>
      </p:sp>
      <p:sp>
        <p:nvSpPr>
          <p:cNvPr id="16" name="Text 16"/>
          <p:cNvSpPr txBox="1"/>
          <p:nvPr/>
        </p:nvSpPr>
        <p:spPr>
          <a:xfrm>
            <a:off x="4636008" y="2267712"/>
            <a:ext cx="3044952" cy="81381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Employer and job seeker account links; unique job/account pair; status and lookup indexes.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8028432" y="1691640"/>
            <a:ext cx="3520440" cy="1508760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74736" y="1856232"/>
            <a:ext cx="50292" cy="1179576"/>
          </a:xfrm>
          <a:prstGeom prst="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321040" y="1837944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 b="1">
                <a:solidFill>
                  <a:srgbClr val="F4F2FF"/>
                </a:solidFill>
                <a:latin typeface="Aptos"/>
              </a:rPr>
              <a:t xml:space="preserve">wallet ledger</a:t>
            </a:r>
            <a:endParaRPr lang="en-US" sz="1700"/>
          </a:p>
        </p:txBody>
      </p:sp>
      <p:sp>
        <p:nvSpPr>
          <p:cNvPr id="20" name="Text 20"/>
          <p:cNvSpPr txBox="1"/>
          <p:nvPr/>
        </p:nvSpPr>
        <p:spPr>
          <a:xfrm>
            <a:off x="8321040" y="2267712"/>
            <a:ext cx="3044952" cy="81381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Wallet top-ups, ledger entries, Premium expiry, and job views support wallet purchases and usage limits.</a:t>
            </a:r>
            <a:endParaRPr lang="en-US" sz="1200"/>
          </a:p>
        </p:txBody>
      </p:sp>
      <p:sp>
        <p:nvSpPr>
          <p:cNvPr id="21" name="Text 21"/>
          <p:cNvSpPr txBox="1"/>
          <p:nvPr/>
        </p:nvSpPr>
        <p:spPr>
          <a:xfrm>
            <a:off x="841248" y="36576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800" b="1">
                <a:solidFill>
                  <a:srgbClr val="F4F2FF"/>
                </a:solidFill>
                <a:latin typeface="Aptos"/>
              </a:rPr>
              <a:t xml:space="preserve">What BIGINT UNSIGNED means</a:t>
            </a:r>
            <a:endParaRPr lang="en-US" sz="1800"/>
          </a:p>
        </p:txBody>
      </p:sp>
      <p:sp>
        <p:nvSpPr>
          <p:cNvPr id="22" name="Text 22"/>
          <p:cNvSpPr txBox="1"/>
          <p:nvPr/>
        </p:nvSpPr>
        <p:spPr>
          <a:xfrm>
            <a:off x="896112" y="4160520"/>
            <a:ext cx="502920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700">
                <a:solidFill>
                  <a:srgbClr val="B0AEC8"/>
                </a:solidFill>
                <a:latin typeface="Aptos"/>
              </a:rPr>
              <a:t xml:space="preserve">The identifier range is 0 to 18,446,744,073,709,551,615. One million users is well within this ID range.</a:t>
            </a:r>
            <a:endParaRPr lang="en-US" sz="1700"/>
          </a:p>
        </p:txBody>
      </p:sp>
      <p:sp>
        <p:nvSpPr>
          <p:cNvPr id="23" name="Shape 23"/>
          <p:cNvSpPr/>
          <p:nvPr/>
        </p:nvSpPr>
        <p:spPr>
          <a:xfrm>
            <a:off x="6400800" y="3657600"/>
            <a:ext cx="4937760" cy="1600200"/>
          </a:xfrm>
          <a:prstGeom prst="roundRect">
            <a:avLst/>
          </a:prstGeom>
          <a:solidFill>
            <a:srgbClr val="303049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675120" y="3886200"/>
            <a:ext cx="4389120" cy="1143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F4F2FF"/>
                </a:solidFill>
                <a:latin typeface="Aptos"/>
              </a:rPr>
              <a:t xml:space="preserve">Real capacity depends on disk space, profile-picture storage, indexes, backup/restore design, query load, and server resources. Scale testing and operations planning are still needed.</a:t>
            </a:r>
            <a:endParaRPr lang="en-US" sz="1400"/>
          </a:p>
        </p:txBody>
      </p:sp>
      <p:sp>
        <p:nvSpPr>
          <p:cNvPr id="25" name="Text 25"/>
          <p:cNvSpPr txBox="1"/>
          <p:nvPr/>
        </p:nvSpPr>
        <p:spPr>
          <a:xfrm>
            <a:off x="868680" y="566928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 b="1">
                <a:solidFill>
                  <a:srgbClr val="9885FF"/>
                </a:solidFill>
                <a:latin typeface="Aptos"/>
              </a:rPr>
              <a:t xml:space="preserve">Use the single schema.sql file for fresh installs or non-destructive updates to existing databases.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11  |  SECURITY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Security controls built into the application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Security is layered across login, writes, data access, uploads, and external services.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12</a:t>
            </a:r>
            <a:endParaRPr lang="en-US" sz="900"/>
          </a:p>
        </p:txBody>
      </p:sp>
      <p:sp>
        <p:nvSpPr>
          <p:cNvPr id="9" name="Shape 9"/>
          <p:cNvSpPr/>
          <p:nvPr/>
        </p:nvSpPr>
        <p:spPr>
          <a:xfrm>
            <a:off x="658368" y="1627632"/>
            <a:ext cx="3520440" cy="1353312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804672" y="1792224"/>
            <a:ext cx="50292" cy="1024128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0976" y="1773936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Password protection</a:t>
            </a:r>
            <a:endParaRPr lang="en-US" sz="1500"/>
          </a:p>
        </p:txBody>
      </p:sp>
      <p:sp>
        <p:nvSpPr>
          <p:cNvPr id="12" name="Text 12"/>
          <p:cNvSpPr txBox="1"/>
          <p:nvPr/>
        </p:nvSpPr>
        <p:spPr>
          <a:xfrm>
            <a:off x="950976" y="2203704"/>
            <a:ext cx="304495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Passwords are hashed; incorrect attempts are counted and capped.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4343400" y="1627632"/>
            <a:ext cx="3520440" cy="1353312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489704" y="1792224"/>
            <a:ext cx="50292" cy="1024128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36008" y="1773936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Step-up OTP</a:t>
            </a:r>
            <a:endParaRPr lang="en-US" sz="1500"/>
          </a:p>
        </p:txBody>
      </p:sp>
      <p:sp>
        <p:nvSpPr>
          <p:cNvPr id="16" name="Text 16"/>
          <p:cNvSpPr txBox="1"/>
          <p:nvPr/>
        </p:nvSpPr>
        <p:spPr>
          <a:xfrm>
            <a:off x="4636008" y="2203704"/>
            <a:ext cx="304495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At 10 failed attempts, email OTP is required; hashed, 10-minute expiry, up to 5 attempts, 1-minute resend wait.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8028432" y="1627632"/>
            <a:ext cx="3520440" cy="1353312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74736" y="1792224"/>
            <a:ext cx="50292" cy="1024128"/>
          </a:xfrm>
          <a:prstGeom prst="rect">
            <a:avLst/>
          </a:prstGeom>
          <a:solidFill>
            <a:srgbClr val="FFAC65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321040" y="1773936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Safer requests</a:t>
            </a:r>
            <a:endParaRPr lang="en-US" sz="1500"/>
          </a:p>
        </p:txBody>
      </p:sp>
      <p:sp>
        <p:nvSpPr>
          <p:cNvPr id="20" name="Text 20"/>
          <p:cNvSpPr txBox="1"/>
          <p:nvPr/>
        </p:nvSpPr>
        <p:spPr>
          <a:xfrm>
            <a:off x="8321040" y="2203704"/>
            <a:ext cx="304495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PDO prepared statements, session regeneration, and CSRF tokens on state-changing forms.</a:t>
            </a:r>
            <a:endParaRPr lang="en-US" sz="1200"/>
          </a:p>
        </p:txBody>
      </p:sp>
      <p:sp>
        <p:nvSpPr>
          <p:cNvPr id="21" name="Shape 21"/>
          <p:cNvSpPr/>
          <p:nvPr/>
        </p:nvSpPr>
        <p:spPr>
          <a:xfrm>
            <a:off x="658368" y="3246120"/>
            <a:ext cx="3520440" cy="1353312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2" name="Shape 22"/>
          <p:cNvSpPr/>
          <p:nvPr/>
        </p:nvSpPr>
        <p:spPr>
          <a:xfrm>
            <a:off x="804672" y="3410712"/>
            <a:ext cx="50292" cy="1024128"/>
          </a:xfrm>
          <a:prstGeom prst="rect">
            <a:avLst/>
          </a:prstGeom>
          <a:solidFill>
            <a:srgbClr val="51D3BD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0976" y="3392424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Server authorization</a:t>
            </a:r>
            <a:endParaRPr lang="en-US" sz="1500"/>
          </a:p>
        </p:txBody>
      </p:sp>
      <p:sp>
        <p:nvSpPr>
          <p:cNvPr id="24" name="Text 24"/>
          <p:cNvSpPr txBox="1"/>
          <p:nvPr/>
        </p:nvSpPr>
        <p:spPr>
          <a:xfrm>
            <a:off x="950976" y="3822192"/>
            <a:ext cx="304495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Employer ownership checks guard posting, reviewing, and hiring actions.</a:t>
            </a:r>
            <a:endParaRPr lang="en-US" sz="1200"/>
          </a:p>
        </p:txBody>
      </p:sp>
      <p:sp>
        <p:nvSpPr>
          <p:cNvPr id="25" name="Shape 25"/>
          <p:cNvSpPr/>
          <p:nvPr/>
        </p:nvSpPr>
        <p:spPr>
          <a:xfrm>
            <a:off x="4343400" y="3246120"/>
            <a:ext cx="3520440" cy="1353312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26" name="Shape 26"/>
          <p:cNvSpPr/>
          <p:nvPr/>
        </p:nvSpPr>
        <p:spPr>
          <a:xfrm>
            <a:off x="4489704" y="3410712"/>
            <a:ext cx="50292" cy="1024128"/>
          </a:xfrm>
          <a:prstGeom prst="rect">
            <a:avLst/>
          </a:prstGeom>
          <a:solidFill>
            <a:srgbClr val="9885F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4636008" y="3392424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Output &amp; uploads</a:t>
            </a:r>
            <a:endParaRPr lang="en-US" sz="1500"/>
          </a:p>
        </p:txBody>
      </p:sp>
      <p:sp>
        <p:nvSpPr>
          <p:cNvPr id="28" name="Text 28"/>
          <p:cNvSpPr txBox="1"/>
          <p:nvPr/>
        </p:nvSpPr>
        <p:spPr>
          <a:xfrm>
            <a:off x="4636008" y="3822192"/>
            <a:ext cx="304495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Dynamic text is escaped; uploads are MIME-, size-, and dimension-validated.</a:t>
            </a:r>
            <a:endParaRPr lang="en-US" sz="1200"/>
          </a:p>
        </p:txBody>
      </p:sp>
      <p:sp>
        <p:nvSpPr>
          <p:cNvPr id="29" name="Shape 29"/>
          <p:cNvSpPr/>
          <p:nvPr/>
        </p:nvSpPr>
        <p:spPr>
          <a:xfrm>
            <a:off x="8028432" y="3246120"/>
            <a:ext cx="3520440" cy="1353312"/>
          </a:xfrm>
          <a:prstGeom prst="roundRect">
            <a:avLst/>
          </a:prstGeom>
          <a:solidFill>
            <a:srgbClr val="25253B"/>
          </a:solidFill>
          <a:ln w="9525">
            <a:solidFill>
              <a:srgbClr val="43435F"/>
            </a:solidFill>
          </a:ln>
        </p:spPr>
      </p:sp>
      <p:sp>
        <p:nvSpPr>
          <p:cNvPr id="30" name="Shape 30"/>
          <p:cNvSpPr/>
          <p:nvPr/>
        </p:nvSpPr>
        <p:spPr>
          <a:xfrm>
            <a:off x="8174736" y="3410712"/>
            <a:ext cx="50292" cy="1024128"/>
          </a:xfrm>
          <a:prstGeom prst="rect">
            <a:avLst/>
          </a:prstGeom>
          <a:solidFill>
            <a:srgbClr val="FF78A5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321040" y="3392424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500" b="1">
                <a:solidFill>
                  <a:srgbClr val="F4F2FF"/>
                </a:solidFill>
                <a:latin typeface="Aptos"/>
              </a:rPr>
              <a:t xml:space="preserve">Secrets &amp; payments</a:t>
            </a:r>
            <a:endParaRPr lang="en-US" sz="1500"/>
          </a:p>
        </p:txBody>
      </p:sp>
      <p:sp>
        <p:nvSpPr>
          <p:cNvPr id="32" name="Text 32"/>
          <p:cNvSpPr txBox="1"/>
          <p:nvPr/>
        </p:nvSpPr>
        <p:spPr>
          <a:xfrm>
            <a:off x="8321040" y="3822192"/>
            <a:ext cx="304495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SMTP and MTN sandbox credentials belong in server environment settings, never committed code.</a:t>
            </a:r>
            <a:endParaRPr lang="en-US" sz="1200"/>
          </a:p>
        </p:txBody>
      </p:sp>
      <p:sp>
        <p:nvSpPr>
          <p:cNvPr id="33" name="Shape 33"/>
          <p:cNvSpPr/>
          <p:nvPr/>
        </p:nvSpPr>
        <p:spPr>
          <a:xfrm>
            <a:off x="822960" y="5074920"/>
            <a:ext cx="10515600" cy="658368"/>
          </a:xfrm>
          <a:prstGeom prst="roundRect">
            <a:avLst/>
          </a:prstGeom>
          <a:solidFill>
            <a:srgbClr val="303049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1051560" y="5248656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300" b="1">
                <a:solidFill>
                  <a:srgbClr val="F4F2FF"/>
                </a:solidFill>
                <a:latin typeface="Aptos"/>
              </a:rPr>
              <a:t xml:space="preserve">Operationally: enable HTTPS, keep PHP/MySQL patched, restrict database privileges, back up data, and test recovery.</a:t>
            </a:r>
            <a:endParaRPr lang="en-US"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rgbClr val="9885FF"/>
                </a:solidFill>
                <a:latin typeface="Aptos"/>
              </a:rPr>
              <a:t xml:space="preserve">12  |  SETUP &amp; WALKTHROUGH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02920" y="566928"/>
            <a:ext cx="11064240" cy="484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2700" b="1">
                <a:solidFill>
                  <a:srgbClr val="F4F2FF"/>
                </a:solidFill>
                <a:latin typeface="Aptos"/>
              </a:rPr>
              <a:t xml:space="preserve">How to launch and demonstrate the current system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30352" y="10789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B0AEC8"/>
                </a:solidFill>
                <a:latin typeface="Aptos"/>
              </a:rPr>
              <a:t xml:space="preserve">A short guided demo can explain the product even before a large dataset is loaded.</a:t>
            </a:r>
            <a:endParaRPr lang="en-US" sz="1200"/>
          </a:p>
        </p:txBody>
      </p:sp>
      <p:sp>
        <p:nvSpPr>
          <p:cNvPr id="6" name="Shap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4343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0352" y="6528816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800">
                <a:solidFill>
                  <a:srgbClr val="B0AEC8"/>
                </a:solidFill>
                <a:latin typeface="Aptos"/>
              </a:rPr>
              <a:t xml:space="preserve">SKILLSPASSAURORA  |  SYSTEM WALKTHROUGH  |  28 OCT 2026</a:t>
            </a:r>
            <a:endParaRPr lang="en-US" sz="800"/>
          </a:p>
        </p:txBody>
      </p:sp>
      <p:sp>
        <p:nvSpPr>
          <p:cNvPr id="8" name="Text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>
              <a:spcAft>
                <a:spcPts val="500"/>
              </a:spcAft>
            </a:pPr>
            <a:r>
              <a:rPr lang="en-US" sz="900" b="1">
                <a:solidFill>
                  <a:srgbClr val="9885FF"/>
                </a:solidFill>
                <a:latin typeface="Aptos"/>
              </a:rPr>
              <a:t xml:space="preserve">13</a:t>
            </a:r>
            <a:endParaRPr lang="en-US" sz="900"/>
          </a:p>
        </p:txBody>
      </p:sp>
      <p:sp>
        <p:nvSpPr>
          <p:cNvPr id="9" name="Text 9"/>
          <p:cNvSpPr txBox="1"/>
          <p:nvPr/>
        </p:nvSpPr>
        <p:spPr>
          <a:xfrm>
            <a:off x="804672" y="162763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51D3BD"/>
                </a:solidFill>
                <a:latin typeface="Aptos"/>
              </a:rPr>
              <a:t xml:space="preserve">LOCAL SETUP</a:t>
            </a:r>
            <a:endParaRPr lang="en-US" sz="1600"/>
          </a:p>
        </p:txBody>
      </p:sp>
      <p:sp>
        <p:nvSpPr>
          <p:cNvPr id="10" name="Text 10"/>
          <p:cNvSpPr txBox="1"/>
          <p:nvPr/>
        </p:nvSpPr>
        <p:spPr>
          <a:xfrm>
            <a:off x="868680" y="2084832"/>
            <a:ext cx="49377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F4F2FF"/>
                </a:solidFill>
                <a:latin typeface="Aptos"/>
              </a:rPr>
              <a:t xml:space="preserve">1  Start Apache and MySQL in XAMPP\n2  Import the single schema.sql file for a fresh install or safe database update\n3  Set DB_HOST / DB_NAME / DB_USER / DB_PASS\n4  Install Composer dependencies\n5  Configure SMTP for OTP email\n6  Set MTN MoMo sandbox credentials in server environment</a:t>
            </a:r>
            <a:endParaRPr lang="en-US" sz="1400"/>
          </a:p>
        </p:txBody>
      </p:sp>
      <p:sp>
        <p:nvSpPr>
          <p:cNvPr id="11" name="Text 11"/>
          <p:cNvSpPr txBox="1"/>
          <p:nvPr/>
        </p:nvSpPr>
        <p:spPr>
          <a:xfrm>
            <a:off x="6309360" y="1627632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600" b="1">
                <a:solidFill>
                  <a:srgbClr val="9885FF"/>
                </a:solidFill>
                <a:latin typeface="Aptos"/>
              </a:rPr>
              <a:t xml:space="preserve">DEMO FLOW</a:t>
            </a:r>
            <a:endParaRPr lang="en-US" sz="1600"/>
          </a:p>
        </p:txBody>
      </p:sp>
      <p:sp>
        <p:nvSpPr>
          <p:cNvPr id="12" name="Text 12"/>
          <p:cNvSpPr txBox="1"/>
          <p:nvPr/>
        </p:nvSpPr>
        <p:spPr>
          <a:xfrm>
            <a:off x="6382512" y="2084832"/>
            <a:ext cx="49377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F4F2FF"/>
                </a:solidFill>
                <a:latin typeface="Aptos"/>
              </a:rPr>
              <a:t xml:space="preserve">1  Show the landing page and account roles\n2  Register employer; post an available job\n3  Register job seeker; browse and apply\n4  Review the application as employer\n5  Top up wallet in sandbox; confirm the provider, then buy Premium from wallet\n6  Select job seeker; observe job marked Taken</a:t>
            </a:r>
            <a:endParaRPr lang="en-US" sz="1400"/>
          </a:p>
        </p:txBody>
      </p:sp>
      <p:sp>
        <p:nvSpPr>
          <p:cNvPr id="13" name="Shape 13"/>
          <p:cNvSpPr/>
          <p:nvPr/>
        </p:nvSpPr>
        <p:spPr>
          <a:xfrm>
            <a:off x="822960" y="4846320"/>
            <a:ext cx="10515600" cy="868680"/>
          </a:xfrm>
          <a:prstGeom prst="roundRect">
            <a:avLst/>
          </a:prstGeom>
          <a:solidFill>
            <a:srgbClr val="303049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051560" y="5047488"/>
            <a:ext cx="10058400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>
              <a:spcAft>
                <a:spcPts val="500"/>
              </a:spcAft>
            </a:pPr>
            <a:r>
              <a:rPr lang="en-US" sz="1200">
                <a:solidFill>
                  <a:srgbClr val="FFAC65"/>
                </a:solidFill>
                <a:latin typeface="Aptos"/>
              </a:rPr>
              <a:t xml:space="preserve">Slides 14-16 show code screenshots for the live charts, employer job map, and wallet. Populate the database with test accounts and jobs before a live demo.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plementation code screenshot" descr="Readable screenshot-style source code excerpt from the live SkillsPassAurora implementa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plementation code screenshot" descr="Readable screenshot-style source code excerpt from the live SkillsPassAurora implementa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plementation code screenshot" descr="Readable screenshot-style source code excerpt from the live SkillsPassAurora implementa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killsPassAurora">
  <a:themeElements>
    <a:clrScheme name="SkillsPassAurora">
      <a:dk1>
        <a:srgbClr val="191927"/>
      </a:dk1>
      <a:lt1>
        <a:srgbClr val="F4F2FF"/>
      </a:lt1>
      <a:dk2>
        <a:srgbClr val="25253B"/>
      </a:dk2>
      <a:lt2>
        <a:srgbClr val="B0AEC8"/>
      </a:lt2>
      <a:accent1>
        <a:srgbClr val="9885FF"/>
      </a:accent1>
      <a:accent2>
        <a:srgbClr val="51D3BD"/>
      </a:accent2>
      <a:accent3>
        <a:srgbClr val="FFAC65"/>
      </a:accent3>
      <a:accent4>
        <a:srgbClr val="FF78A5"/>
      </a:accent4>
      <a:accent5>
        <a:srgbClr val="55A9E8"/>
      </a:accent5>
      <a:accent6>
        <a:srgbClr val="42D4BE"/>
      </a:accent6>
      <a:hlink>
        <a:srgbClr val="9885FF"/>
      </a:hlink>
      <a:folHlink>
        <a:srgbClr val="51D3B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killsPass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SkillsPassAurora System Overview</dc:title>
  <dc:subject>Product and technical walkthrough</dc:subject>
  <dc:creator>SkillsPassAurora</dc:creator>
  <dcterms:created xsi:type="dcterms:W3CDTF">2026-10-28T00:00:00Z</dcterms:created>
</cp:coreProperties>
</file>